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JyothikaAtthota/data_analysis---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8434097" cy="861497"/>
          </a:xfrm>
        </p:spPr>
        <p:txBody>
          <a:bodyPr vert="horz" lIns="91440" tIns="45720" rIns="91440" bIns="45720" rtlCol="0" anchor="t">
            <a:normAutofit/>
          </a:bodyPr>
          <a:lstStyle/>
          <a:p>
            <a:pPr algn="r"/>
            <a:r>
              <a:rPr lang="en-US" b="0" dirty="0">
                <a:solidFill>
                  <a:schemeClr val="tx1"/>
                </a:solidFill>
              </a:rPr>
              <a:t>[Student Name : Atthota Jyothika </a:t>
            </a:r>
            <a:endParaRPr lang="en-IN" b="0" dirty="0">
              <a:solidFill>
                <a:schemeClr val="tx1"/>
              </a:solidFill>
            </a:endParaRPr>
          </a:p>
          <a:p>
            <a:pPr algn="r"/>
            <a:r>
              <a:rPr lang="en-US" b="0" dirty="0">
                <a:solidFill>
                  <a:schemeClr val="tx1"/>
                </a:solidFill>
              </a:rPr>
              <a:t>College Name- Hyderabad Institute of Technology and Management]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855897"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928586" cy="369332"/>
          </a:xfrm>
          <a:prstGeom prst="rect">
            <a:avLst/>
          </a:prstGeom>
          <a:noFill/>
        </p:spPr>
        <p:txBody>
          <a:bodyPr wrap="square" rtlCol="0">
            <a:spAutoFit/>
          </a:bodyPr>
          <a:lstStyle/>
          <a:p>
            <a:r>
              <a:rPr lang="en-US" b="1" dirty="0"/>
              <a:t>AICTE STU ID : (STU6867f55fd8f021751643487)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28187" y="1418356"/>
            <a:ext cx="7582752" cy="4889227"/>
          </a:xfrm>
        </p:spPr>
        <p:txBody>
          <a:bodyPr vert="horz" lIns="91440" tIns="45720" rIns="91440" bIns="45720" rtlCol="0" anchor="t">
            <a:normAutofit fontScale="92500" lnSpcReduction="20000"/>
          </a:bodyPr>
          <a:lstStyle/>
          <a:p>
            <a:pPr>
              <a:lnSpc>
                <a:spcPct val="100000"/>
              </a:lnSpc>
            </a:pPr>
            <a:r>
              <a:rPr lang="en-IN" sz="2800" dirty="0"/>
              <a:t> 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3827" y="422658"/>
            <a:ext cx="8063723" cy="830997"/>
          </a:xfrm>
        </p:spPr>
        <p:txBody>
          <a:bodyPr>
            <a:normAutofit fontScale="90000"/>
          </a:bodyPr>
          <a:lstStyle/>
          <a:p>
            <a:r>
              <a:rPr lang="en-GB" dirty="0"/>
              <a:t>Project Description</a:t>
            </a:r>
            <a:br>
              <a:rPr lang="en-GB" dirty="0"/>
            </a:br>
            <a:r>
              <a:rPr lang="en-IN" dirty="0"/>
              <a:t>Seasonal Agriculture Performance Analysis — </a:t>
            </a:r>
            <a:br>
              <a:rPr lang="en-IN" dirty="0"/>
            </a:br>
            <a:r>
              <a:rPr lang="en-IN" sz="2700" b="0" dirty="0" err="1"/>
              <a:t>Analyzed</a:t>
            </a:r>
            <a:r>
              <a:rPr lang="en-IN" sz="2700" b="0" dirty="0"/>
              <a:t> agricultural data across different seasons to identify variations in crop yield, production, environmental conditions, resource usage, and economic performance using Python, Pandas, NumPy, Matplotlib, Seaborn, and statistical analysis. Performed data cleaning, exploratory data analysis, seasonal comparisons, correlation analysis, visualization, and evidence-based interpretation to support better agricultural planning.</a:t>
            </a:r>
            <a:r>
              <a:rPr lang="en-GB" sz="2700" b="0"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85457" y="1329618"/>
            <a:ext cx="7904481" cy="3990023"/>
          </a:xfrm>
        </p:spPr>
        <p:txBody>
          <a:bodyPr>
            <a:normAutofit fontScale="85000" lnSpcReduction="10000"/>
          </a:bodyPr>
          <a:lstStyle/>
          <a:p>
            <a:pPr lvl="0"/>
            <a:r>
              <a:rPr lang="en-IN" sz="2400" b="1" dirty="0"/>
              <a:t>Farmers</a:t>
            </a:r>
            <a:r>
              <a:rPr lang="en-IN" sz="2400" dirty="0"/>
              <a:t> – Can use seasonal insights to plan crops, water usage, fertilizer usage, and farming activities. </a:t>
            </a:r>
          </a:p>
          <a:p>
            <a:pPr lvl="0"/>
            <a:r>
              <a:rPr lang="en-IN" sz="2400" b="1" dirty="0"/>
              <a:t>Agricultural Officers</a:t>
            </a:r>
            <a:r>
              <a:rPr lang="en-IN" sz="2400" dirty="0"/>
              <a:t> – Can </a:t>
            </a:r>
            <a:r>
              <a:rPr lang="en-IN" sz="2400" dirty="0" err="1"/>
              <a:t>analyze</a:t>
            </a:r>
            <a:r>
              <a:rPr lang="en-IN" sz="2400" dirty="0"/>
              <a:t> seasonal performance and identify areas that may need support or intervention. </a:t>
            </a:r>
          </a:p>
          <a:p>
            <a:pPr lvl="0"/>
            <a:r>
              <a:rPr lang="en-IN" sz="2400" b="1" dirty="0"/>
              <a:t>Agricultural Planners &amp; Researchers</a:t>
            </a:r>
            <a:r>
              <a:rPr lang="en-IN" sz="2400" dirty="0"/>
              <a:t> – Can study seasonal trends, environmental conditions, crop performance, and resource utilization. </a:t>
            </a:r>
          </a:p>
          <a:p>
            <a:pPr lvl="0"/>
            <a:r>
              <a:rPr lang="en-IN" sz="2400" b="1" dirty="0"/>
              <a:t>Agribusinesses</a:t>
            </a:r>
            <a:r>
              <a:rPr lang="en-IN" sz="2400" dirty="0"/>
              <a:t> – Can use production and economic insights for planning procurement, resources, and market activities. </a:t>
            </a:r>
          </a:p>
          <a:p>
            <a:pPr lvl="0"/>
            <a:r>
              <a:rPr lang="en-IN" sz="2400" b="1" dirty="0"/>
              <a:t>Government / Agricultural Departments</a:t>
            </a:r>
            <a:r>
              <a:rPr lang="en-IN" sz="2400" dirty="0"/>
              <a:t> – Can use aggregated findings to support evidence-based agricultural planning and resource allocation.</a:t>
            </a:r>
          </a:p>
          <a:p>
            <a:pPr algn="just">
              <a:lnSpc>
                <a:spcPct val="100000"/>
              </a:lnSpc>
            </a:pP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52697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11461" y="1167013"/>
            <a:ext cx="9027702" cy="5243448"/>
          </a:xfrm>
        </p:spPr>
        <p:txBody>
          <a:bodyPr/>
          <a:lstStyle/>
          <a:p>
            <a:pPr lvl="0"/>
            <a:r>
              <a:rPr lang="en-IN" b="1" dirty="0"/>
              <a:t>Python</a:t>
            </a:r>
            <a:r>
              <a:rPr lang="en-IN" dirty="0"/>
              <a:t> – used for performing the analysis. </a:t>
            </a:r>
          </a:p>
          <a:p>
            <a:pPr lvl="0"/>
            <a:r>
              <a:rPr lang="en-IN" b="1" dirty="0"/>
              <a:t>Pandas</a:t>
            </a:r>
            <a:r>
              <a:rPr lang="en-IN" dirty="0"/>
              <a:t> – used for loading, cleaning, and </a:t>
            </a:r>
            <a:r>
              <a:rPr lang="en-IN" dirty="0" err="1"/>
              <a:t>analyzing</a:t>
            </a:r>
            <a:r>
              <a:rPr lang="en-IN" dirty="0"/>
              <a:t> the dataset. </a:t>
            </a:r>
          </a:p>
          <a:p>
            <a:pPr lvl="0"/>
            <a:r>
              <a:rPr lang="en-IN" b="1" dirty="0"/>
              <a:t>NumPy</a:t>
            </a:r>
            <a:r>
              <a:rPr lang="en-IN" dirty="0"/>
              <a:t> – used for numerical calculations. </a:t>
            </a:r>
          </a:p>
          <a:p>
            <a:pPr lvl="0"/>
            <a:r>
              <a:rPr lang="en-IN" b="1" dirty="0"/>
              <a:t>Matplotlib</a:t>
            </a:r>
            <a:r>
              <a:rPr lang="en-IN" dirty="0"/>
              <a:t> – used to create graphs and charts. </a:t>
            </a:r>
          </a:p>
          <a:p>
            <a:pPr lvl="0"/>
            <a:r>
              <a:rPr lang="en-IN" b="1" dirty="0"/>
              <a:t>Seaborn</a:t>
            </a:r>
            <a:r>
              <a:rPr lang="en-IN" dirty="0"/>
              <a:t> – used for better data visualizations. </a:t>
            </a:r>
          </a:p>
          <a:p>
            <a:pPr lvl="0"/>
            <a:r>
              <a:rPr lang="en-IN" b="1" dirty="0"/>
              <a:t>SciPy</a:t>
            </a:r>
            <a:r>
              <a:rPr lang="en-IN" dirty="0"/>
              <a:t> – used for statistical analysis such as ANOVA. </a:t>
            </a:r>
          </a:p>
          <a:p>
            <a:pPr lvl="0"/>
            <a:r>
              <a:rPr lang="en-IN" b="1" dirty="0"/>
              <a:t>Google </a:t>
            </a:r>
            <a:r>
              <a:rPr lang="en-IN" b="1" dirty="0" err="1"/>
              <a:t>Colab</a:t>
            </a:r>
            <a:r>
              <a:rPr lang="en-IN" dirty="0"/>
              <a:t> – used to write and run the Python code. </a:t>
            </a:r>
          </a:p>
          <a:p>
            <a:pPr lvl="0"/>
            <a:r>
              <a:rPr lang="en-IN" b="1" dirty="0"/>
              <a:t>CSV</a:t>
            </a:r>
            <a:r>
              <a:rPr lang="en-IN" dirty="0"/>
              <a:t> – used as the dataset format. </a:t>
            </a:r>
          </a:p>
          <a:p>
            <a:pPr marL="0" indent="0">
              <a:buNone/>
            </a:pP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370BD51-40B9-112D-6B3B-89AEBBE0401E}"/>
              </a:ext>
            </a:extLst>
          </p:cNvPr>
          <p:cNvPicPr>
            <a:picLocks noChangeAspect="1"/>
          </p:cNvPicPr>
          <p:nvPr/>
        </p:nvPicPr>
        <p:blipFill>
          <a:blip r:embed="rId3"/>
          <a:stretch>
            <a:fillRect/>
          </a:stretch>
        </p:blipFill>
        <p:spPr>
          <a:xfrm>
            <a:off x="5484361" y="3961285"/>
            <a:ext cx="4929876" cy="2703675"/>
          </a:xfrm>
          <a:prstGeom prst="rect">
            <a:avLst/>
          </a:prstGeom>
        </p:spPr>
      </p:pic>
      <p:pic>
        <p:nvPicPr>
          <p:cNvPr id="12" name="Picture 11">
            <a:extLst>
              <a:ext uri="{FF2B5EF4-FFF2-40B4-BE49-F238E27FC236}">
                <a16:creationId xmlns:a16="http://schemas.microsoft.com/office/drawing/2014/main" id="{29B487BA-6A49-F673-9C00-656C21E65094}"/>
              </a:ext>
            </a:extLst>
          </p:cNvPr>
          <p:cNvPicPr>
            <a:picLocks noChangeAspect="1"/>
          </p:cNvPicPr>
          <p:nvPr/>
        </p:nvPicPr>
        <p:blipFill>
          <a:blip r:embed="rId4"/>
          <a:stretch>
            <a:fillRect/>
          </a:stretch>
        </p:blipFill>
        <p:spPr>
          <a:xfrm>
            <a:off x="536934" y="3961285"/>
            <a:ext cx="4827255" cy="2623718"/>
          </a:xfrm>
          <a:prstGeom prst="rect">
            <a:avLst/>
          </a:prstGeom>
        </p:spPr>
      </p:pic>
      <p:pic>
        <p:nvPicPr>
          <p:cNvPr id="14" name="Picture 13">
            <a:extLst>
              <a:ext uri="{FF2B5EF4-FFF2-40B4-BE49-F238E27FC236}">
                <a16:creationId xmlns:a16="http://schemas.microsoft.com/office/drawing/2014/main" id="{9DCCD641-CEE8-28C1-7D84-BDBEE0B368AA}"/>
              </a:ext>
            </a:extLst>
          </p:cNvPr>
          <p:cNvPicPr>
            <a:picLocks noChangeAspect="1"/>
          </p:cNvPicPr>
          <p:nvPr/>
        </p:nvPicPr>
        <p:blipFill>
          <a:blip r:embed="rId5"/>
          <a:stretch>
            <a:fillRect/>
          </a:stretch>
        </p:blipFill>
        <p:spPr>
          <a:xfrm>
            <a:off x="5364189" y="1133669"/>
            <a:ext cx="5196680" cy="2649894"/>
          </a:xfrm>
          <a:prstGeom prst="rect">
            <a:avLst/>
          </a:prstGeom>
        </p:spPr>
      </p:pic>
      <p:pic>
        <p:nvPicPr>
          <p:cNvPr id="16" name="Picture 15">
            <a:extLst>
              <a:ext uri="{FF2B5EF4-FFF2-40B4-BE49-F238E27FC236}">
                <a16:creationId xmlns:a16="http://schemas.microsoft.com/office/drawing/2014/main" id="{5890F2C1-F96B-E52D-844E-2716EB6A8F4A}"/>
              </a:ext>
            </a:extLst>
          </p:cNvPr>
          <p:cNvPicPr>
            <a:picLocks noChangeAspect="1"/>
          </p:cNvPicPr>
          <p:nvPr/>
        </p:nvPicPr>
        <p:blipFill>
          <a:blip r:embed="rId6"/>
          <a:stretch>
            <a:fillRect/>
          </a:stretch>
        </p:blipFill>
        <p:spPr>
          <a:xfrm>
            <a:off x="489044" y="1201586"/>
            <a:ext cx="4827255" cy="275969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B704E5B-FBD8-DD71-C781-1C347DDB02C7}"/>
              </a:ext>
            </a:extLst>
          </p:cNvPr>
          <p:cNvPicPr>
            <a:picLocks noChangeAspect="1"/>
          </p:cNvPicPr>
          <p:nvPr/>
        </p:nvPicPr>
        <p:blipFill>
          <a:blip r:embed="rId3"/>
          <a:stretch>
            <a:fillRect/>
          </a:stretch>
        </p:blipFill>
        <p:spPr>
          <a:xfrm>
            <a:off x="6096000" y="1201586"/>
            <a:ext cx="4698908" cy="2552240"/>
          </a:xfrm>
          <a:prstGeom prst="rect">
            <a:avLst/>
          </a:prstGeom>
        </p:spPr>
      </p:pic>
      <p:pic>
        <p:nvPicPr>
          <p:cNvPr id="12" name="Picture 11">
            <a:extLst>
              <a:ext uri="{FF2B5EF4-FFF2-40B4-BE49-F238E27FC236}">
                <a16:creationId xmlns:a16="http://schemas.microsoft.com/office/drawing/2014/main" id="{A262950D-977F-3263-FA7D-34CDAE702B6A}"/>
              </a:ext>
            </a:extLst>
          </p:cNvPr>
          <p:cNvPicPr>
            <a:picLocks noChangeAspect="1"/>
          </p:cNvPicPr>
          <p:nvPr/>
        </p:nvPicPr>
        <p:blipFill>
          <a:blip r:embed="rId4"/>
          <a:stretch>
            <a:fillRect/>
          </a:stretch>
        </p:blipFill>
        <p:spPr>
          <a:xfrm>
            <a:off x="938111" y="3608830"/>
            <a:ext cx="4698907" cy="2661341"/>
          </a:xfrm>
          <a:prstGeom prst="rect">
            <a:avLst/>
          </a:prstGeom>
        </p:spPr>
      </p:pic>
      <p:pic>
        <p:nvPicPr>
          <p:cNvPr id="14" name="Picture 13">
            <a:extLst>
              <a:ext uri="{FF2B5EF4-FFF2-40B4-BE49-F238E27FC236}">
                <a16:creationId xmlns:a16="http://schemas.microsoft.com/office/drawing/2014/main" id="{DA5371D2-0A52-8521-771D-95921BA76AF4}"/>
              </a:ext>
            </a:extLst>
          </p:cNvPr>
          <p:cNvPicPr>
            <a:picLocks noChangeAspect="1"/>
          </p:cNvPicPr>
          <p:nvPr/>
        </p:nvPicPr>
        <p:blipFill>
          <a:blip r:embed="rId5"/>
          <a:stretch>
            <a:fillRect/>
          </a:stretch>
        </p:blipFill>
        <p:spPr>
          <a:xfrm>
            <a:off x="5726946" y="3827611"/>
            <a:ext cx="5001979" cy="2106210"/>
          </a:xfrm>
          <a:prstGeom prst="rect">
            <a:avLst/>
          </a:prstGeom>
        </p:spPr>
      </p:pic>
      <p:pic>
        <p:nvPicPr>
          <p:cNvPr id="16" name="Picture 15">
            <a:extLst>
              <a:ext uri="{FF2B5EF4-FFF2-40B4-BE49-F238E27FC236}">
                <a16:creationId xmlns:a16="http://schemas.microsoft.com/office/drawing/2014/main" id="{C10F6168-871E-1A2E-0B96-92D4515C884D}"/>
              </a:ext>
            </a:extLst>
          </p:cNvPr>
          <p:cNvPicPr>
            <a:picLocks noChangeAspect="1"/>
          </p:cNvPicPr>
          <p:nvPr/>
        </p:nvPicPr>
        <p:blipFill>
          <a:blip r:embed="rId6"/>
          <a:stretch>
            <a:fillRect/>
          </a:stretch>
        </p:blipFill>
        <p:spPr>
          <a:xfrm>
            <a:off x="938112" y="1232790"/>
            <a:ext cx="4698908" cy="219621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48EB89B-009A-9BA3-66CE-58C64BF53750}"/>
              </a:ext>
            </a:extLst>
          </p:cNvPr>
          <p:cNvPicPr>
            <a:picLocks noChangeAspect="1"/>
          </p:cNvPicPr>
          <p:nvPr/>
        </p:nvPicPr>
        <p:blipFill>
          <a:blip r:embed="rId3"/>
          <a:stretch>
            <a:fillRect/>
          </a:stretch>
        </p:blipFill>
        <p:spPr>
          <a:xfrm>
            <a:off x="5822302" y="4018013"/>
            <a:ext cx="4903491" cy="2774980"/>
          </a:xfrm>
          <a:prstGeom prst="rect">
            <a:avLst/>
          </a:prstGeom>
        </p:spPr>
      </p:pic>
      <p:pic>
        <p:nvPicPr>
          <p:cNvPr id="9" name="Picture 8">
            <a:extLst>
              <a:ext uri="{FF2B5EF4-FFF2-40B4-BE49-F238E27FC236}">
                <a16:creationId xmlns:a16="http://schemas.microsoft.com/office/drawing/2014/main" id="{7C88516C-3AB4-C90F-5B5E-FA8ADC43DC56}"/>
              </a:ext>
            </a:extLst>
          </p:cNvPr>
          <p:cNvPicPr>
            <a:picLocks noChangeAspect="1"/>
          </p:cNvPicPr>
          <p:nvPr/>
        </p:nvPicPr>
        <p:blipFill>
          <a:blip r:embed="rId4"/>
          <a:stretch>
            <a:fillRect/>
          </a:stretch>
        </p:blipFill>
        <p:spPr>
          <a:xfrm>
            <a:off x="609975" y="1201586"/>
            <a:ext cx="4577845" cy="2533969"/>
          </a:xfrm>
          <a:prstGeom prst="rect">
            <a:avLst/>
          </a:prstGeom>
        </p:spPr>
      </p:pic>
      <p:pic>
        <p:nvPicPr>
          <p:cNvPr id="12" name="Picture 11">
            <a:extLst>
              <a:ext uri="{FF2B5EF4-FFF2-40B4-BE49-F238E27FC236}">
                <a16:creationId xmlns:a16="http://schemas.microsoft.com/office/drawing/2014/main" id="{185D04F9-1B0D-7322-CD27-D8FDD7BE2691}"/>
              </a:ext>
            </a:extLst>
          </p:cNvPr>
          <p:cNvPicPr>
            <a:picLocks noChangeAspect="1"/>
          </p:cNvPicPr>
          <p:nvPr/>
        </p:nvPicPr>
        <p:blipFill>
          <a:blip r:embed="rId5"/>
          <a:stretch>
            <a:fillRect/>
          </a:stretch>
        </p:blipFill>
        <p:spPr>
          <a:xfrm>
            <a:off x="5595467" y="1227940"/>
            <a:ext cx="5130325" cy="2790073"/>
          </a:xfrm>
          <a:prstGeom prst="rect">
            <a:avLst/>
          </a:prstGeom>
        </p:spPr>
      </p:pic>
      <p:pic>
        <p:nvPicPr>
          <p:cNvPr id="14" name="Picture 13">
            <a:extLst>
              <a:ext uri="{FF2B5EF4-FFF2-40B4-BE49-F238E27FC236}">
                <a16:creationId xmlns:a16="http://schemas.microsoft.com/office/drawing/2014/main" id="{B6FCD213-FE87-888A-B41A-1210A6A139E3}"/>
              </a:ext>
            </a:extLst>
          </p:cNvPr>
          <p:cNvPicPr>
            <a:picLocks noChangeAspect="1"/>
          </p:cNvPicPr>
          <p:nvPr/>
        </p:nvPicPr>
        <p:blipFill>
          <a:blip r:embed="rId6"/>
          <a:stretch>
            <a:fillRect/>
          </a:stretch>
        </p:blipFill>
        <p:spPr>
          <a:xfrm>
            <a:off x="675957" y="4018013"/>
            <a:ext cx="4791782" cy="241654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E084EEB-1014-24F8-8817-46F24862FB43}"/>
              </a:ext>
            </a:extLst>
          </p:cNvPr>
          <p:cNvPicPr>
            <a:picLocks noChangeAspect="1"/>
          </p:cNvPicPr>
          <p:nvPr/>
        </p:nvPicPr>
        <p:blipFill>
          <a:blip r:embed="rId3"/>
          <a:stretch>
            <a:fillRect/>
          </a:stretch>
        </p:blipFill>
        <p:spPr>
          <a:xfrm>
            <a:off x="5463706" y="3843370"/>
            <a:ext cx="5140412" cy="3014630"/>
          </a:xfrm>
          <a:prstGeom prst="rect">
            <a:avLst/>
          </a:prstGeom>
        </p:spPr>
      </p:pic>
      <p:pic>
        <p:nvPicPr>
          <p:cNvPr id="9" name="Picture 8">
            <a:extLst>
              <a:ext uri="{FF2B5EF4-FFF2-40B4-BE49-F238E27FC236}">
                <a16:creationId xmlns:a16="http://schemas.microsoft.com/office/drawing/2014/main" id="{8D0EE860-A25D-6543-6AC0-D1AAED390276}"/>
              </a:ext>
            </a:extLst>
          </p:cNvPr>
          <p:cNvPicPr>
            <a:picLocks noChangeAspect="1"/>
          </p:cNvPicPr>
          <p:nvPr/>
        </p:nvPicPr>
        <p:blipFill>
          <a:blip r:embed="rId4"/>
          <a:stretch>
            <a:fillRect/>
          </a:stretch>
        </p:blipFill>
        <p:spPr>
          <a:xfrm>
            <a:off x="631206" y="3843370"/>
            <a:ext cx="4627054" cy="2892490"/>
          </a:xfrm>
          <a:prstGeom prst="rect">
            <a:avLst/>
          </a:prstGeom>
        </p:spPr>
      </p:pic>
      <p:pic>
        <p:nvPicPr>
          <p:cNvPr id="12" name="Picture 11">
            <a:extLst>
              <a:ext uri="{FF2B5EF4-FFF2-40B4-BE49-F238E27FC236}">
                <a16:creationId xmlns:a16="http://schemas.microsoft.com/office/drawing/2014/main" id="{BFFA1B90-37AC-A1D2-E5C7-B1DB78B5D1F8}"/>
              </a:ext>
            </a:extLst>
          </p:cNvPr>
          <p:cNvPicPr>
            <a:picLocks noChangeAspect="1"/>
          </p:cNvPicPr>
          <p:nvPr/>
        </p:nvPicPr>
        <p:blipFill>
          <a:blip r:embed="rId5"/>
          <a:stretch>
            <a:fillRect/>
          </a:stretch>
        </p:blipFill>
        <p:spPr>
          <a:xfrm>
            <a:off x="531344" y="1094605"/>
            <a:ext cx="4267139" cy="2892490"/>
          </a:xfrm>
          <a:prstGeom prst="rect">
            <a:avLst/>
          </a:prstGeom>
        </p:spPr>
      </p:pic>
      <p:pic>
        <p:nvPicPr>
          <p:cNvPr id="14" name="Picture 13">
            <a:extLst>
              <a:ext uri="{FF2B5EF4-FFF2-40B4-BE49-F238E27FC236}">
                <a16:creationId xmlns:a16="http://schemas.microsoft.com/office/drawing/2014/main" id="{C27960B5-A5AE-BC12-23E8-8289A2D84819}"/>
              </a:ext>
            </a:extLst>
          </p:cNvPr>
          <p:cNvPicPr>
            <a:picLocks noChangeAspect="1"/>
          </p:cNvPicPr>
          <p:nvPr/>
        </p:nvPicPr>
        <p:blipFill>
          <a:blip r:embed="rId6"/>
          <a:stretch>
            <a:fillRect/>
          </a:stretch>
        </p:blipFill>
        <p:spPr>
          <a:xfrm>
            <a:off x="5358122" y="777438"/>
            <a:ext cx="4416764" cy="289249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C826848-DB15-0BB7-EC80-A203F1E7631C}"/>
              </a:ext>
            </a:extLst>
          </p:cNvPr>
          <p:cNvPicPr>
            <a:picLocks noChangeAspect="1"/>
          </p:cNvPicPr>
          <p:nvPr/>
        </p:nvPicPr>
        <p:blipFill>
          <a:blip r:embed="rId3"/>
          <a:stretch>
            <a:fillRect/>
          </a:stretch>
        </p:blipFill>
        <p:spPr>
          <a:xfrm>
            <a:off x="8288016" y="3837885"/>
            <a:ext cx="3912791" cy="3164316"/>
          </a:xfrm>
          <a:prstGeom prst="rect">
            <a:avLst/>
          </a:prstGeom>
        </p:spPr>
      </p:pic>
      <p:pic>
        <p:nvPicPr>
          <p:cNvPr id="9" name="Picture 8">
            <a:extLst>
              <a:ext uri="{FF2B5EF4-FFF2-40B4-BE49-F238E27FC236}">
                <a16:creationId xmlns:a16="http://schemas.microsoft.com/office/drawing/2014/main" id="{37AE46A7-2685-8B77-F5BB-0A13A2148C27}"/>
              </a:ext>
            </a:extLst>
          </p:cNvPr>
          <p:cNvPicPr>
            <a:picLocks noChangeAspect="1"/>
          </p:cNvPicPr>
          <p:nvPr/>
        </p:nvPicPr>
        <p:blipFill>
          <a:blip r:embed="rId4"/>
          <a:stretch>
            <a:fillRect/>
          </a:stretch>
        </p:blipFill>
        <p:spPr>
          <a:xfrm>
            <a:off x="648477" y="1005643"/>
            <a:ext cx="11222541" cy="2608323"/>
          </a:xfrm>
          <a:prstGeom prst="rect">
            <a:avLst/>
          </a:prstGeom>
        </p:spPr>
      </p:pic>
      <p:pic>
        <p:nvPicPr>
          <p:cNvPr id="12" name="Picture 11">
            <a:extLst>
              <a:ext uri="{FF2B5EF4-FFF2-40B4-BE49-F238E27FC236}">
                <a16:creationId xmlns:a16="http://schemas.microsoft.com/office/drawing/2014/main" id="{46E95839-6B90-7BDF-07B9-4E9B2B99B5F3}"/>
              </a:ext>
            </a:extLst>
          </p:cNvPr>
          <p:cNvPicPr>
            <a:picLocks noChangeAspect="1"/>
          </p:cNvPicPr>
          <p:nvPr/>
        </p:nvPicPr>
        <p:blipFill>
          <a:blip r:embed="rId5"/>
          <a:stretch>
            <a:fillRect/>
          </a:stretch>
        </p:blipFill>
        <p:spPr>
          <a:xfrm>
            <a:off x="4345694" y="3837885"/>
            <a:ext cx="3912791" cy="3164316"/>
          </a:xfrm>
          <a:prstGeom prst="rect">
            <a:avLst/>
          </a:prstGeom>
        </p:spPr>
      </p:pic>
      <p:pic>
        <p:nvPicPr>
          <p:cNvPr id="14" name="Picture 13">
            <a:extLst>
              <a:ext uri="{FF2B5EF4-FFF2-40B4-BE49-F238E27FC236}">
                <a16:creationId xmlns:a16="http://schemas.microsoft.com/office/drawing/2014/main" id="{5E7E6327-08AE-EE99-724A-17F87048F662}"/>
              </a:ext>
            </a:extLst>
          </p:cNvPr>
          <p:cNvPicPr>
            <a:picLocks noChangeAspect="1"/>
          </p:cNvPicPr>
          <p:nvPr/>
        </p:nvPicPr>
        <p:blipFill>
          <a:blip r:embed="rId6"/>
          <a:stretch>
            <a:fillRect/>
          </a:stretch>
        </p:blipFill>
        <p:spPr>
          <a:xfrm>
            <a:off x="0" y="3805649"/>
            <a:ext cx="4316163" cy="316431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46CDA05-2BC8-B8A9-AB42-55C902611743}"/>
              </a:ext>
            </a:extLst>
          </p:cNvPr>
          <p:cNvSpPr txBox="1"/>
          <p:nvPr/>
        </p:nvSpPr>
        <p:spPr>
          <a:xfrm>
            <a:off x="636247" y="1120675"/>
            <a:ext cx="6144000" cy="2308324"/>
          </a:xfrm>
          <a:prstGeom prst="rect">
            <a:avLst/>
          </a:prstGeom>
          <a:noFill/>
        </p:spPr>
        <p:txBody>
          <a:bodyPr wrap="square" rtlCol="0">
            <a:spAutoFit/>
          </a:bodyPr>
          <a:lstStyle/>
          <a:p>
            <a:endParaRPr lang="en-IN" b="1" dirty="0"/>
          </a:p>
          <a:p>
            <a:pPr lvl="0"/>
            <a:r>
              <a:rPr lang="en-IN" dirty="0"/>
              <a:t>Extend the study with </a:t>
            </a:r>
            <a:r>
              <a:rPr lang="en-IN" b="1" dirty="0"/>
              <a:t>multi-year agricultural data</a:t>
            </a:r>
            <a:r>
              <a:rPr lang="en-IN" dirty="0"/>
              <a:t>. </a:t>
            </a:r>
          </a:p>
          <a:p>
            <a:pPr lvl="0"/>
            <a:r>
              <a:rPr lang="en-IN" dirty="0"/>
              <a:t>Include </a:t>
            </a:r>
            <a:r>
              <a:rPr lang="en-IN" b="1" dirty="0"/>
              <a:t>weather and market-price factors</a:t>
            </a:r>
            <a:r>
              <a:rPr lang="en-IN" dirty="0"/>
              <a:t>. </a:t>
            </a:r>
          </a:p>
          <a:p>
            <a:pPr lvl="0"/>
            <a:r>
              <a:rPr lang="en-IN" dirty="0"/>
              <a:t>Build a dashboard for </a:t>
            </a:r>
            <a:r>
              <a:rPr lang="en-IN" b="1" dirty="0"/>
              <a:t>easy seasonal comparison</a:t>
            </a:r>
            <a:r>
              <a:rPr lang="en-IN" dirty="0"/>
              <a:t>. </a:t>
            </a:r>
          </a:p>
          <a:p>
            <a:pPr lvl="0"/>
            <a:r>
              <a:rPr lang="en-IN" dirty="0"/>
              <a:t>Develop </a:t>
            </a:r>
            <a:r>
              <a:rPr lang="en-IN" b="1" dirty="0"/>
              <a:t>crop and yield prediction</a:t>
            </a:r>
            <a:r>
              <a:rPr lang="en-IN" dirty="0"/>
              <a:t> models. </a:t>
            </a:r>
          </a:p>
          <a:p>
            <a:pPr lvl="0"/>
            <a:r>
              <a:rPr lang="en-IN" dirty="0"/>
              <a:t>Identify </a:t>
            </a:r>
            <a:r>
              <a:rPr lang="en-IN" b="1" dirty="0"/>
              <a:t>early seasonal risks</a:t>
            </a:r>
            <a:r>
              <a:rPr lang="en-IN" dirty="0"/>
              <a:t>. </a:t>
            </a:r>
          </a:p>
          <a:p>
            <a:pPr lvl="0"/>
            <a:r>
              <a:rPr lang="en-IN" dirty="0"/>
              <a:t>Support </a:t>
            </a:r>
            <a:r>
              <a:rPr lang="en-IN" b="1" dirty="0"/>
              <a:t>smarter crop and resource planning</a:t>
            </a:r>
            <a:r>
              <a:rPr lang="en-IN" dirty="0"/>
              <a:t>.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C8A1D8A-7E34-0FDC-E452-98631BAA5B65}"/>
              </a:ext>
            </a:extLst>
          </p:cNvPr>
          <p:cNvSpPr txBox="1"/>
          <p:nvPr/>
        </p:nvSpPr>
        <p:spPr>
          <a:xfrm>
            <a:off x="1030520" y="2127020"/>
            <a:ext cx="7627054" cy="830997"/>
          </a:xfrm>
          <a:prstGeom prst="rect">
            <a:avLst/>
          </a:prstGeom>
          <a:noFill/>
        </p:spPr>
        <p:txBody>
          <a:bodyPr wrap="square" rtlCol="0">
            <a:spAutoFit/>
          </a:bodyPr>
          <a:lstStyle/>
          <a:p>
            <a:r>
              <a:rPr lang="en-IN" sz="2400" dirty="0"/>
              <a:t>https://github.com/JyothikaAtthota/data_analysis---Seasonal-Agriculture-Performance-Analysis.git</a:t>
            </a:r>
          </a:p>
        </p:txBody>
      </p:sp>
      <p:sp>
        <p:nvSpPr>
          <p:cNvPr id="3" name="TextBox 2">
            <a:extLst>
              <a:ext uri="{FF2B5EF4-FFF2-40B4-BE49-F238E27FC236}">
                <a16:creationId xmlns:a16="http://schemas.microsoft.com/office/drawing/2014/main" id="{482C0F28-D214-A74D-420A-432114C1CAE8}"/>
              </a:ext>
            </a:extLst>
          </p:cNvPr>
          <p:cNvSpPr txBox="1"/>
          <p:nvPr/>
        </p:nvSpPr>
        <p:spPr>
          <a:xfrm>
            <a:off x="495760" y="2173186"/>
            <a:ext cx="2323322" cy="369332"/>
          </a:xfrm>
          <a:prstGeom prst="rect">
            <a:avLst/>
          </a:prstGeom>
          <a:noFill/>
        </p:spPr>
        <p:txBody>
          <a:bodyPr wrap="square" rtlCol="0">
            <a:spAutoFit/>
          </a:bodyPr>
          <a:lstStyle/>
          <a:p>
            <a:r>
              <a:rPr lang="en-IN" dirty="0">
                <a:solidFill>
                  <a:srgbClr val="0070C0"/>
                </a:solidFill>
                <a:hlinkClick r:id="rId3">
                  <a:extLst>
                    <a:ext uri="{A12FA001-AC4F-418D-AE19-62706E023703}">
                      <ahyp:hlinkClr xmlns:ahyp="http://schemas.microsoft.com/office/drawing/2018/hyperlinkcolor" val="tx"/>
                    </a:ext>
                  </a:extLst>
                </a:hlinkClick>
              </a:rPr>
              <a:t>LINK</a:t>
            </a:r>
            <a:endParaRPr lang="en-IN" dirty="0">
              <a:solidFill>
                <a:srgbClr val="0070C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8C30CDE-18AC-F32E-B05A-AE7C5F80DD97}"/>
              </a:ext>
            </a:extLst>
          </p:cNvPr>
          <p:cNvPicPr>
            <a:picLocks noChangeAspect="1"/>
          </p:cNvPicPr>
          <p:nvPr/>
        </p:nvPicPr>
        <p:blipFill>
          <a:blip r:embed="rId3"/>
          <a:stretch>
            <a:fillRect/>
          </a:stretch>
        </p:blipFill>
        <p:spPr>
          <a:xfrm>
            <a:off x="531150" y="1343608"/>
            <a:ext cx="7158105" cy="551439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2" name="Picture 1">
            <a:extLst>
              <a:ext uri="{FF2B5EF4-FFF2-40B4-BE49-F238E27FC236}">
                <a16:creationId xmlns:a16="http://schemas.microsoft.com/office/drawing/2014/main" id="{9C758943-B2B2-DD4C-2201-54E474734195}"/>
              </a:ext>
            </a:extLst>
          </p:cNvPr>
          <p:cNvPicPr>
            <a:picLocks noChangeAspect="1"/>
          </p:cNvPicPr>
          <p:nvPr/>
        </p:nvPicPr>
        <p:blipFill>
          <a:blip r:embed="rId3"/>
          <a:stretch>
            <a:fillRect/>
          </a:stretch>
        </p:blipFill>
        <p:spPr>
          <a:xfrm>
            <a:off x="104333" y="207036"/>
            <a:ext cx="8597010" cy="4865185"/>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595</TotalTime>
  <Words>478</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Seasonal Agriculture Performance Analysis —  Analyzed agricultural data across different seasons to identify variations in crop yield, production, environmental conditions, resource usage, and economic performance using Python, Pandas, NumPy, Matplotlib, Seaborn, and statistical analysis. Performed data cleaning, exploratory data analysis, seasonal comparisons, correlation analysis, visualization, and evidence-based interpretation to support better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Jyothika Chowdary Atthota</cp:lastModifiedBy>
  <cp:revision>100</cp:revision>
  <dcterms:created xsi:type="dcterms:W3CDTF">2021-07-11T13:13:15Z</dcterms:created>
  <dcterms:modified xsi:type="dcterms:W3CDTF">2026-09-05T19:41:11Z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